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44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80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7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ANÁLISIS CUANTITATIVO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Aplicado a Ciencias Marino-Costeras y Análisis de Datos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2834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Laboratorios Autoguiados  •  6 Módulos Temáticos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—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Curso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4114800" cy="1097280"/>
          </a:xfrm>
          <a:prstGeom prst="rect">
            <a:avLst/>
          </a:prstGeom>
          <a:solidFill>
            <a:srgbClr val="1B4F7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Estadísticos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PY-01 a PY-03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4114800" cy="1097280"/>
          </a:xfrm>
          <a:prstGeom prst="rect">
            <a:avLst/>
          </a:prstGeom>
          <a:solidFill>
            <a:srgbClr val="117A6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481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Multivariado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PY-04 a PY-07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4114800" cy="1097280"/>
          </a:xfrm>
          <a:prstGeom prst="rect">
            <a:avLst/>
          </a:prstGeom>
          <a:solidFill>
            <a:srgbClr val="6C3483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8072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de Tiempo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154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PY-08 a PY-09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423160"/>
            <a:ext cx="4114800" cy="1097280"/>
          </a:xfrm>
          <a:prstGeom prst="rect">
            <a:avLst/>
          </a:prstGeom>
          <a:solidFill>
            <a:srgbClr val="7B241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8072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154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PY-10 a PY-13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749040"/>
            <a:ext cx="4114800" cy="1097280"/>
          </a:xfrm>
          <a:prstGeom prst="rect">
            <a:avLst/>
          </a:prstGeom>
          <a:solidFill>
            <a:srgbClr val="1A527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133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Marino-Costeros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480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PY-14 a PY-18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749040"/>
            <a:ext cx="4114800" cy="1097280"/>
          </a:xfrm>
          <a:prstGeom prst="rect">
            <a:avLst/>
          </a:prstGeom>
          <a:solidFill>
            <a:srgbClr val="4A235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4133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y NLP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4480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PY-19 a PY-20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0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Estadísticos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 de estadística aplicada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4F7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7A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0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Multivariado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múltiples variables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7A65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C34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0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de Tiempo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temporal de datos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6C3483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B2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0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predictivos y clasificación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B241C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0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Marino-Costeros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a ciencias marinas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0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y NLP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y procesamiento de texto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235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del Límite Central y Teoría de Colas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 a normalidad y modelado de colas exponenciales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TLC establece que el promedio de n muestras independientes e idénticamente distribuidas converge a una distribución normal cuando n→∞. En teoría de colas, un sistema M/M/1 modela procesos con llegadas Poisson (tasa λ) y servicio exponencial (tasa μ).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 a distribución normal con media μ y desviación estándar σ/√n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 para n≥30 incluso con distribuciones originales no normales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M/M/1: llegadas Poisson, servicio exponencial, 1 servidor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fundamental: λ &lt; μ para estabilidad del sistema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(X̄ - μ) / (σ/√n); ρ = λ/μ; W = λ/(μ(μ-λ))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i.i.d.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muestral suficiente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finita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de la cola (λ &lt; μ)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Poisson puro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ks_test(datos, normal_std)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p&gt;0.05 indica que los promedios siguen distribución normal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qqplot(promedios)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sobre la diagonal confirman ajuste a normal; desviaciones indican no-normalidad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rho = lambda/mu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ρ≥1 el sistema es inestable; ρ próximo a 1 implica colas largas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chi2_test(datos, esperado)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p&lt;0.05 rechaza hipótesis nula de igualdad; p&gt;0.05 indica ajuste adecuado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 visual a distribución normal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espera simulado vs teórico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 del sistema (ρ)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confianza del promedio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promedio de la cola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El modelo es válido si TLC se cumple visualmente (histograma normal), ρ&lt;1 asegura estabilidad, y medidas de espera simuladas coinciden con predicciones teóricas dentro de 10-15%.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Varianza (ANOVA) con Pruebas Post-Hoc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medias entre k grupos mediante prueba 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es un método estadístico que compara </a:t>
            </a: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medias simultáneamente mediante el cociente </a:t>
            </a: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300" baseline="-25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300" baseline="-25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Rechaza hipótesis nula si hay diferencias significativas entre grupos.</a:t>
            </a:r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Generalización de prueba </a:t>
            </a: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dos grupos a </a:t>
            </a: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2 grupos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tasa de error tipo I global mediante ANOVA en lugar de </a:t>
            </a: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pruebas </a:t>
            </a: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200" baseline="-25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200" baseline="-25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sigue distribución </a:t>
            </a: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− 1, </a:t>
            </a: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</a:t>
            </a: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bajo </a:t>
            </a: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200" baseline="-25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pruebas post-hoc (Tukey HSD) para identificar pares que difieren</a:t>
            </a:r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r>
              <a:rPr lang="en-US" sz="1300" b="1" baseline="-25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(</a:t>
            </a: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− 1)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</a:t>
            </a:r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r>
              <a:rPr lang="en-US" sz="1300" b="1" baseline="-25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(</a:t>
            </a: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</a:t>
            </a: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r>
              <a:rPr lang="en-US" sz="1300" b="1" baseline="-25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r>
              <a:rPr lang="en-US" sz="1300" b="1" baseline="-25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87064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Normalidad por grupo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Homocedasticidad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observaciones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continua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aleatorio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shapiro_test(grupo_i)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p&gt;0.05 en todos los grupos sugiere distribuciones normales; si p&lt;0.05 considerar transformación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levene_test(grupos)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p&gt;0.05 indica varianzas iguales; p&lt;0.05 sugiere heteroscedasticidad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anova(grupo1, grupo2, ..., grupok)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p&lt;α rechaza H₀ (hay diferencias); p&gt;α no rechaza H₀ (medias iguales)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tukey_hsd(anova_result)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p&lt;α para par específico indica diferencia significativa entre esos grupos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de ANOVA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 (eta-cuadrado)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HSD (pairwise comparisons)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efecto (Cohen's 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medias con 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ANOVA es significativo (p&lt;0.05) y η² mediano-grande si el factor explica proporción sustancial de varianza; Tukey HSD guía si hay diferencias entre pares específicos.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 Experimental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análisis de experimentos con control y replicación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controlado asigna aleatoriamente unidades a grupos de tratamiento vs control, replica observaciones en cada grupo, y utiliza ANOVA para comparar efectos. La aleatorización minimiza sesgos por variables de confusión.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Aleatorización: asignación aleatoria de unidades a tratamientos/control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grupo control recibe placebo o no-tratamiento como referencia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Replicación: múltiples unidades por grupo para estimar variabilidad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y pruebas post-hoc para análisis estadístico formal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= Media_tratamiento - Media_control; η² = SS_tratamiento / SS_total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Normalidad y homocedasticidad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aleatoria efectiva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homogéneas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grupos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 adecuada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balance_check(grupo_asignado, variables)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t entre grupos para covariables deben dar p&gt;0.10; diferencias grandes sugieren falla en aleatorización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shapiro_test(residuos_grupo)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p&gt;0.05 sugiere normalidad adecuada para ANOVA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levene_test(residuos_grupos)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p&gt;0.05 indica varianzas homogéneas; si p&lt;0.05 considerar transformación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anova(grupos); tukey_hsd(resultado)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p&lt;0.05 indica efecto del tratamiento; Tukey identifica qué pares difieren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 covariables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del tratamiento (ANOVA)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estadística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 planificadas vs post-hoc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causal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Experimento válido si balance pre-tratamiento es adecuado, supuestos ANOVA se cumplen, efecto es significativo (p&lt;0.05) y tamaño de efecto es sustancial (η²&gt;0.06 o d&gt;0.5).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Componentes Principales (PCA) — Fundamentos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ortogonal para reducción dimensional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es una transformación ortogonal que reexpresa variables originales como combinaciones lineales no correlacionadas (componentes principales) ordenadas decrecientemente por varianza explicada. Reduce dimensionalidad preservando máxima información.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= combinaciones lineales ortogonales de variables originales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Ordenados por varianza decreciente: PC1 &gt; PC2 &gt; ... &gt; PCp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 = pesos que combinan variables originales en cada PC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= proyección de observaciones en espacio de componentes principales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PC_i = w_i1·X_1 + w_i2·X_2 + ... + w_ip·X_p; Var(PC_1) ≥ Var(PC_2) ≥ ... ≥ Var(PC_p)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continuas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 lineales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multicolinealidad perfecta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de datos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muestral adecuado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kmo_test(datos)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KMO≥0.6 indica PCA es apropiado; &lt;0.5 sugiere variables no correlacionadas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bartlett_test(datos)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p&lt;0.05 rechaza independencia entre variables; PCA útil si p&lt;0.05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scree_plot(varianzas_PCs)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 indica número óptimo de PCs a retener; usualmente después caída pronunciada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cumsum(varianzas_explicadas)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Retener PCs hasta acumular 70-80% varianza según aplicación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codo en scree plot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 &gt; |0.5|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Biplot vectores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de observaciones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dimensional lograda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PCA es exitoso si KMO≥0.6, Bartlett p&lt;0.05, codo está claro, y 70-80% varianza se alcanza con pocas PCs (k&lt;p); interpretación de loadings guía significado de componentes.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Componentes Principales (PCA) — Versión Extendida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 y diagnóstico con diferentes tamaños muestrales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 PCA fundamental que examina estabilidad de soluciones con variaciones en n (submuestras), validación de estrutura de correlación, y reproducibilidad de loadings. Incluye análisis de círculo de correlación y detección de variables redundantes.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loadings entre n=100 vs n=500 para evaluar estabilidad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correlación como input alternativo para PCA en variables estandarizadas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 de correlación visualiza contribución y correlación de variables con PCs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 correlaciones altas (r&gt;0.8) son redundantes; puede eliminarse una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= correlación de loadings(n₁) con loadings(n₂); círculo unitario: PC_1² + PC_2² =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básicos de PCA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de estructura de correlación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outliers influyentes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 esperada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n vs p adecuada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pearson_corr_matrix(datos)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 |r|&gt;0.8 son candidatas a eliminación; reducir colinealidad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kmo_test(n100); kmo_test(n500)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KMO debe ser ≥0.6 en ambas para PCA válido; Bartlett p&lt;0.05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var_explained(pc1, pc2, ...)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Varianzas deben ser similares (diferencia &lt;5-10%); divergencia sugiere inestabilidad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pairplot(datos_n100) vs pairplot(datos_n500)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similares entre submuestras indican estructura estable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loadings (n=100 vs n=500)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variables redundantes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 de correlación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Ángulos en círculo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k componentes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PCA extendido es válido si loadings son reproducibles entre submuestras (r&gt;0.90), variables no-redundantes son identificadas, y círculo de correlación muestra distribución clara de variables sin solapamiento excesivo.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Conglomerados K-Means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Particionamiento iterativo en k clusters homogéneos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es algoritmo de clustering que asigna n observaciones a k clusters (definidos a priori) minimizando suma de cuadrados intra-cluster (SSE). Itera entre asignación a centroides y actualización de centroides hasta convergencia.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minimizar SSE = Σ||x_i - centroide_k||² dentro de clusters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estandarización de variables para comparabilidad de escalas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k puede definirse a priori o determinarse por método del codo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localmente; aleatorización múltiple de iniciales mejora solución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= Σ_k Σ_{i∈cluster_k} ||x_i - μ_k||²; μ_k = promedio de observaciones en cluster 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esférica de clusters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similar entre clusters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en escala comparable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conocido o estimable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Euclídea válida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plot(k_range, sse_values)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 = cambio drástico en pendiente; retener k en punto de codo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silhouette_analysis(clusters)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 ∈ [-1, 1]; &gt;0.5 = bien separado, &lt;0.2 = solapado, negativos = mal asignados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gap_statistic(datos, k_max)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gap statistic sugiere k óptimo; alternativa a método del codo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davies_bouldin_index(clusters)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DB&lt;1 indica clusters bien separados; DB&gt;3 sugiere solapamiento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codo en SSE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 promedio &gt; 0.5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clusters (medias por variable)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Tamaños de clusters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de clusters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K-Means es exitoso si método del codo es claro, silueta promedio es &gt;0.5 y consistente entre clusters, perfil de clusters es interpretable y diferenciado, y resultado es replicable.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Múltiple con Diagnóstico de Multicolinealidad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Y basado en múltiples predictores con diagnóstico de violaciones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múltiple modela relación lineal Y = β₀ + β₁X₁ + ... + βₙXₙ + ε estimada por Mínimos Cuadrados Ordinarios (OLS). Supuestos LINE (Linealidad, Independencia, Normalidad, Equivariance) y bajo VIF (ausencia multicolinealidad) son críticos.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minimiza suma de cuadrados de residuos Σ(y_i - ŷ_i)²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LINE más diagnóstico de multicolinealidad (VIF) aseguran validez de inferencia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= 1/(1-R²ⱼ) mide inflación de varianza de βⱼ por correlación con otros predictores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influyentes (Cook's D&gt;1) pueden distorsionar regresión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β₀ + β₁X₁ + ... + βₙXₙ; R² = 1 - SS_residual/SS_total; VIF_j = 1/(1-R²_j)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LINE + Multicolinealidad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residuos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Normalidad de residuos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Homocedasticidad (Equivariance)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VIF (no multicolinealidad)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vif(modelo_regresion)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VIF&lt;5 aceptable; 5-10 moderado; &gt;10 severo; considerar eliminar predictores altamente correlacionados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shapiro_test(residuos)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p&gt;0.05 sugiere normalidad; p&lt;0.05 rechaza normalidad; transformación de Y si falla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plot(modelo_regresion)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sin patrón = linealidad válida; Q-Q sobre diagonal = normalidad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durbin_watson(residuos)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≈ 2 indica no-autocorrelación; &lt;2 autocorrelación positiva, &gt;2 negativa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y R² ajustado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p-valores de coeficientes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de predictores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Cook's D para observaciones influyentes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Regresión válida si supuestos LINE se cumplen (gráficos diagnósticos sin patrones), VIF de todos predictores &lt;5, y coeficientes significativos tienen signos esperados y magnitudes razonables.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2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de Tiempo y Pronóstico ARIMA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autorregresivos, integración y media móvil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ARIMA(p,d,q) combina Autorregresión (AR=p lags de valores pasados), Integración (I=d diferenciaciones), y Media Móvil (MA=q lags de errores pasados). Modela series estacionarias y las hace estacionarias mediante diferenciación.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AR(p): regresión de y_t sobre p valores pasados y_{t-1}, ..., y_{t-p}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I(d): d diferenciaciones para alcanzar estacionariedad; d=1 diferencia simple, d=2 segunda diferencia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MA(q): regresión de y_t sobre q errores pasados ε_{t-1}, ..., ε_{t-q}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Flexibilidad: puede modelar tendencias (I), autocorrelación (AR), e innovaciones (MA)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ARIMA: Δ^d y_t = β₀ + Σᵢ φᵢ Δ^d y_{t-i} + Σⱼ θⱼ ε_{t-j} + ε_t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Estacionariedad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Linealidad de relaciones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como ruido blanco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patrones sistemáticos en residuos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reversible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adf_test(serie_tiempo)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p&lt;0.05 rechaza H₀; serie estacionaria. p&gt;0.05 → no estacionaria, necesita diferenciación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acf_plot(serie)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abrupto alrededor de lag q sugiere MA(q); decaimiento lento sugiere AR o diferenciación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pacf_plot(serie)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abrupto alrededor de lag p sugiere AR(p); decaimiento lento sugiere MA o necesita diferenciación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ljung_box_test(residuos_modelo)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p&gt;0.05 sugiere residuos son ruido blanco; p&lt;0.05 indica autocorrelación remanente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p-valor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corte vs decaimiento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PACF corte vs decaimiento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AIC/BIC entre modelos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con IC 95%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Modelo ARIMA es válido si ADF p&lt;0.05 (estacionariedad), ACF/PACF identifican órdenes claros, Ljung-Box p&gt;0.05 en residuos, y AIC/BIC es mínimo entre alternativas.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 Lluvia Mensual con SARIMAX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series con patrones estacionales y variables externas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SARIMAX(p,d,q)(P,D,Q,s) extiende ARIMA con componentes estacionales P,D,Q de periodo s (e.g., s=12 para datos mensuales anuales). Incluye variables exógenas (regresores externos). Ideal para lluvia monthly con ciclo anual fuerte.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P,D,Q son órdenes estacionales; s=12 para anual, s=4 para trimestral, s=7 para semanal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diferenciación estacional (s pasos atrás); usualmente D=0 o 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exógenas: predictores externos (e.g., temperatura, presión) incluidos como regresores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previa en tendencia, estacional, residuo ayuda a especificar órdenes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SARIMAX: Δ^d Δ_s^D y_t = β₀ + Σ φ_i y_{t-i} + Σ Φ_j y_{t-sj} + Σ θ_k ε_{t-k} + Σ Θ_l ε_{t-sl} + Σ γ_r X_{t-r} + ε_t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Estacionariedad (con diferenciación)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estacional estable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s conocido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exógenas disponibles para pronóstico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estables en tiempo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seasonal_decompose(serie, period=12)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estacional consistente año a año válida aplicación de SARIMAX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acf_plot(serie, nlags=60)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en lags 12, 24, ... indican estacionalidad; ACF abrupto → Q, PACF abrupto → 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rmse(real, predicho); mae(real, predicho)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bajo = pronóstico preciso; MAE promedio de errores absolutos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ljung_box_test(residuos)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p&gt;0.05 indica ausencia de autocorrelación; modelo adecuado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estacional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bajo vs baseline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sin autocorrelación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95% del pronóstico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múltiples SARIMAX(p,d,q)(P,D,Q,12)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SARIMAX es válido si descomposición muestra estacionalidad clara, RMSE es significativamente mejor que baseline, residuos son ruido blanco (Ljung-Box p&gt;0.05), e IC del pronóstico son razonables en amplitud.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Decisión para Gestión Marino-Costera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no-paramétrico para clasificación y decisión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 es modelo que particiona recursivamente el espacio de características seleccionando en cada nodo la variable y umbral que maximiza ganancia de información (medida por Gini o entropía). Genera reglas interpretables para predicción y toma de decisiones.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Particionamiento recursivo: divide datos en subgrupos cada vez más puros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split: Gini impurity o información (entropía); busca minimizar impureza en hojas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No-paramétrico: sin supuestos distribucionales; maneja relaciones no-lineales naturalmente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Interpretabilidad: reglas de decisión en forma de árbol fáciles de comunicar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= 1 - Σ(p_k)²; Ganancia de Información = Gini(padre) - Σ(n_hijo/n_padre)·Gini(hijo)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supuestos distribucionales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muestral suficiente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observaciones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entrada continuas o categóricas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 clases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cross_validate(modelo, k=5)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CV similar a error test sugiere baja varianza del modelo; divergencia indica overfitting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plot(profundidad, error_cv)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 en curva sugiere profundidad óptima; después crece error (overfitting)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confusion_matrix(y_true, y_pred)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alta = buenas predicciones; valores off-diagonal son errores de tipo I y II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feature_importance(modelo)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guía selección de indicadores más relevantes para gestión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óptima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variables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interpretables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Árbol de decisión es útil para gestión marino-costera si accuracy y F1-score son &gt;80%, profundidad es manejable (&lt;=7), importancia de variables identifica indicadores clave, y reglas son interpretables por gestores.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Probabilística con Naive Bayes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de Bayes: P(clase|X) ∝ P(X|clase)×P(clase)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es un clasificador probabilístico basado en el teorema de Bayes que asume independencia condicional entre características dada la clase. GaussianNB asume distribución normal para datos continuos.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P(clase|X) proporcional a P(X|clase)×P(clase)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naive: independencia condicional entre características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GaussianNB modela cada predictor con distribución normal por clase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eficiente incluso con muchas variables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P(clase|X) = P(X|clase)×P(clase) / P(X)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condicional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normal (GaussianNB)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muestra mínimo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observaciones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plt.hist(X[y==clase], bins=20)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simétricas y gaussoides confirman supuesto de normalidad; sesgos importantes pueden indicar transformación necesaria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confusion_matrix(y_true, y_pred)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principal alta = buen clasificador; valores altos fuera diagonal = confusión entre clases específicas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cross_val_score(modelo, X, y, cv=5, scoring='accuracy')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promedio ≥0.70 generalmente aceptable; baja varianza entre folds (std&lt;0.05) indica estabilidad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roc_curve(y_true, y_proba); auc_score(y_true, y_proba)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&gt; 0.80 indica discriminación excelente; curva cerca diagonal = clasificador poco mejor que azar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predichas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(Sensibilidad)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entre folds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El modelo es exitoso si accuracy≥0.70, AUC&gt;0.80 en binaria, recall y precisión balanceados según contexto, y CV muestra baja varianza entre folds.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Neuronales Artificiales y Deep Learning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multicapa mediante backpropagation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neuronales artificiales son modelos con múltiples capas de neuronas conectadas que ajustan pesos mediante backpropagation. Forward pass propaga entrada → capas ocultas con ReLU → salida con softmax para clasificación.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capas de entrada → capas ocultas (ReLU) → salida (softmax)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calcula gradientes y ajusta pesos iterativamente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(Rectified Linear Unit) = max(0, x) introduce no-linealidad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en salida convierte logits a probabilidades para clasificación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h = ReLU(X @ W1 + b1); salida = softmax(h @ W2 + b2)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tamaño de muestra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entrada normalizadas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apropiada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correctamente codificadas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plt.plot(history.history['loss']); plt.plot(history.history['val_loss'])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Paralelas decrecientes = buena generalización; train&lt;&lt;val = overfitting (añadir Dropout/L2); ambas altas = underfitting (mayor capacidad)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EarlyStopping(monitor='val_loss', patience=5)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 de parada temprana indica convergencia; paciencia baja (3-5) evita entrenamientos innecesarios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confusion_matrix(y_test, predictions.argmax(axis=1))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principal alta; valores altos fuera = confusión sistemática entre pares de clases específicas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classification_report(y_test, y_pred, target_names=...)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Recall&lt;0.60 en una clase = modelo lucha con esa clase; investigar desbalance de datos o complejidad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Divergencia train vs val 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métricas bajas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accuracy estable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con mayor error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Modelo exitoso si val_accuracy ≥0.80, curva de aprendizaje convergida sin divergencia extreme, y desempeño balanceado entre clases sin errores sistemáticos.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Automática de Preguntas Abiertas con NLP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Lematización → TF-IDF → Similitud Coseno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NLP que lematiza respuestas abiertas con spaCy, vectoriza mediante TF-IDF y calcula similitud coseno respecto a categorías de referencia. Clasificación temática combinada con palabras clave y expresiones regulares.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Lematización: convertir palabras a forma canónica (corrieron → correr)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peso = frecuencia término × rareza en corpus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coseno: ángulo entre vectores TF-IDF; rango [0,1]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clave y regex para validación y refinamiento de categorías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similitud_coseno(u, v) = (u·v) / (||u|| × ||v||)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bag-of-words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estadística entre términos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suficientemente largo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consistente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plt.hist([cosine_similarity(doc, ref) for doc in respuestas], bins=30)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bimodal = categorías bien separadas; uniformemente distribuida = categorías superpuestas; muchos valores bajos&lt;0.3 = respuestas mal clasificadas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Counter([token.lemma_ for token in doc if not token.is_stop])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únicos con alta frecuencia = buenos descriptores; términos presentes en todas las categorías = poco informativos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WordCloud(').generate(texto_categoria)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palabra = frecuencia; términos centrales validar coherencia temática; términos periféricos revisar si son ruido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value_counts(categorias_asignadas)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similar a expectativa teórica = buen categorización; sesgo extremo = revisar categoría dominante o umbral de similitud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 &gt;0.7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alto en un término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categorías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clave extraídas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Codificación exitosa si similitud coseno promedio ≥0.65, términos discriminatorios tienen sentido temático, distribución de categorías razonable, y validación manual de muestras concuerda con automatización.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4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de Poblaciones de Plancton — PCA Aplicado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dimensionalidad: 5 variables → componentes principales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(análisis de componentes principales) transforma 5 variables ambientales correlacionadas (temperatura, salinidad, clorofila, nitrato, fitoplancton) en componentes no correlacionadas que capturan gradientes oceanográficos principales.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principales: direcciones de máxima varianza en los datos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típicamente captura gradiente temperatura-salinidad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puede capturar productividad (clorofila-nitrato)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componentes retenidos: varianza acumulada ≥80-90%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= a1×T + a2×S + a3×Chl + a4×NO3 + a5×Fito (pesos a optimizados)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 lineales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estandarizadas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Representatividad espacial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suficiente de observaciones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corr_matrix = df[['T','S','Chl','NO3','Fito']].corr(); sns.heatmap(corr_matrix)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 |r|&gt;0.7 = variables altamente correlacionadas, PCA las separa en componentes; correlaciones bajas = PCA menos beneficioso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cumsum(pca.explained_variance_ratio_)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PC1+PC2 explican ≥60% = 2D retiene mucha información; &lt;3 componentes para 80% = reducción efectiva; &gt;5 necesarios = variables débilmente correlacionadas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plt.arrow(0,0,pca.components_[0,0],pca.components_[1,0])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grandes = variable importante en esa PC; vectores paralelos = variables correlacionadas; perpendiculares = independientes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loadings = pca.components_; mask = abs(loadings)&gt;0.5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 variables por componente = interpretación clara; muchas = componente combina múltiples gradientes; facilita nombrado ecológico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como gradiente T-S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como productividad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de estaciones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ecológica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Análisis exitoso si PC1+PC2 explican ≥60% de varianza, cada componente tiene interpretación ecológica clara con 2-3 variables dominantes, y agrupación de estaciones tiene sentido geográfico.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Intensidad Lumínica en Algas — ANOVA Aplicado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de una vía: 4 tratamientos de luz × 10 réplicas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(análisis de varianza) de una vía contrasta si la tasa de crecimiento de algas difiere significativamente entre 4 niveles de intensidad lumínica. Particiona varianza total en entre-grupos y dentro-grupos.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respuesta: tasa de crecimiento μ/día (continua)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factor: intensidad lumínica (4 niveles categóricos)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F = varianza entre grupos / varianza dentro grupos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hipótesis: H0 todas las medias iguales vs H1 al menos una diferente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MS_entre / MS_dentro donde MS = suma cuadrados / grados de libertad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Homocedasticidad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outliers extremos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shapiro(crecimiento[intensidad=='baja'])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p&gt;0.05 = datos normales para ese grupo (bueno); p&lt;0.05 = desviación de normalidad; si muchos grupos no normales, considerar transformación (log, sqrt)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levene(crecimiento[intensidad=='baja'], crecimiento[intensidad=='media'], ...)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p&gt;0.05 = varianzas iguales (supuesto cumplido, ANOVA válido); p&lt;0.05 = varianzas desiguales (Welch ANOVA más robusto)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f_oneway(grupo_baja, grupo_media, grupo_alta, grupo_muy_alta)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 = diferencias altamente significativas entre al menos dos intensidades; p&gt;0.05 = sin diferencias detectadas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pairwise_tukeyhsd(endog=crecimiento, groups=intensidad, alpha=0.05)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&lt;0.05 en una comparación = esas intensidades generan crecimiento estadísticamente distinto; tabla muestra todos los pares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significativo (p&lt;0.001)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HSD pairwise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Eta-squared (η²)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medias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Análisis exitoso si F p&lt;0.001, Shapiro y Levene cumplen (p&gt;0.05), Tukey HSD identifica contrastes claros, y η² indica efecto sustancial (≥0.20).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Hábitats de Peces — Clustering Aplicado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200 localidades → k hábitats oceanográficos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agrupa 200 localidades marinas basadas en 4 variables ambientales (temperatura, salinidad, profundidad, oxígeno) tras estandarización. Cada cluster representa un hábitat ecológicamente diferenciado.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Estandarizar variables antes de clustering; evita que escala mayor domime distancia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 k centroides aleatoriamente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Iteración: asignar puntos al centroide más cercano, actualizar centroides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Convergencia: minimizar suma de cuadrados dentro de clusters (SSE)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= Σ Σ ||punto - centroide_k||² (suma sobre puntos y clusters)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ecológicamente diferenciados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capturan heterogeneidad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euclidiana significativa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convexos similares tamaños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= [KMeans(k).inertia_ for k in range(2,11)]; plt.plot(SSE)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 pronunciado en k=3 o k=4 sugiere ese es número natural de hábitats; curva suave = difícil elegir, validar con silueta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silhouette_score(X_scaled, labels) para cada 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 &gt;0.3 = clusters útiles; &gt;0.5 = excelentes; &lt;0.2 = solapados; máximo de silueta sugiere k óptimo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silhouette_samples(X_scaled, labels)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negativos = punto más cerca de otro cluster que el propio; revisar localidades con silueta&lt;0 para validación ecológica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df.groupby('cluster')[['temp','sal','prof','O2']].agg(['mean','std'])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distintos justifican k clusters; solapamiento de rangos = hábitats similares; permite nombrado (aguas profundas frías, someras cálidas, etc.)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óptimo (codo + silueta)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 promedio ≥0.3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cluster distintos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ecológica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Clustering exitoso si codo y silueta concuerdan en k, silueta promedio ≥0.3, perfiles de cluster son ecológicamente interpretables y distintos, y tamaños de cluster razonables.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Migración de Peces — Regresión Múltiple Aplicada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OLS: distancia_migración ~ temperatura + salinidad + velocidad_corriente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OLS (mínimos cuadrados ordinarios) predice distancia de migración de 200 peces marcados usando 3 predictores ambientales. Evalúa si relaciones son lineales o requieren términos cuadráticos.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lineal: Y = β0 + β1×T + β2×S + β3×V_corriente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β1 = km adicionales por °C; interpretación directa de coeficientes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deben ser normales, homocedasticos, independientes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AIC modelo lineal vs cuadrático para seleccionar estructura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β0 + Σβi×Xi + ε donde ε ~ N(0,σ²)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errores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Homocedasticidad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 baja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Normalidad de residuos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vif([temperatura, salinidad, velocidad_corriente])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VIF&lt;2 = baja colinealidad (ideal); VIF 2-5 = moderada, aceptable; VIF&gt;5 = alta, considerar eliminar predictor correlacionado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plot(modelo_residuos) o diagnostic_plots(residuos)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1 (residuos vs ajustados): patrón aleatorio = bueno, patrón en abanico = heterocedasticidad; Panel 2 (Q-Q): puntos en diagonal = normalidad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shapiro(residuos)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p&gt;0.05 = residuos normales (supuesto cumplido); p&lt;0.05 = desviación de normalidad; si muestral grande, pequeñas desviaciones pueden ser significativas pero poco prácticamente importantes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AIC_lineal = 2k + n×ln(RSS/n) para modelo Y~X; AIC_quad para Y~X+X²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menor = mejor balance complejidad-ajuste; diferencia AIC&gt;10 = fuerte evidencia por modelo menor; &lt;2 = modelos equivalentes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β temperatura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proporción de varianza explicada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VIF&gt;5 indica colinealidad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Cook's D &gt;1 para outliers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Modelo válido si linealidad confirmada (residuos aleatorios), Shapiro p&gt;0.05, VIF&lt;5, R²≥0.50, y Cook's D&lt;1 para mayoría de puntos.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Socioeconómica de Praderas Marinas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Integración: análisis ecológico + económico + social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multidimensional que combina datos ecológicos (extensión, cobertura), económicos (valor de servicios), sociales (percepciones mediante análisis de sentimiento con TextBlob y nubes de palabras de respuestas cualitativas).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sentimiento: TextBlob polaridad [-1,1] de respuestas cualitativas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de palabras: visualiza términos frecuentes ponderados por apariciones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Likert (1-5) como proxy continuo de preferencias/conocimiento sociales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cruzada entre variables ecológicas, económicas y sociales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Sentimiento_promedio = Σ polaridad_respuesta / n_respuestas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entrenado en inglés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representativa de comunidades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Likert como continuo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respuestas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TextBlob(texto_traducido).sentiment.polarity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Polaridad &gt;0.3 = actitud positiva; &lt;-0.3 = negativa; [-0.3,0.3] = neutral; promedio de comunidad = sentimiento agregado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pearsonr(extension_praderium pearson(extension_praderium valor_economico)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&gt;0.6 = correlación fuerte; significancia p&lt;0.05; puede justificar inversión en conservación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plt.hist([conocimiento_praderium plt.hist([participacion_conservacion], ...)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balanceadas = muestra representativa; sesgos = grupos subrepresentados o resistentes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corr(conocimiento_pradera, horas_voluntariado_conservacion)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r&gt;0.4 = conocimiento impulsa acción; r&lt;0.2 = brecha conocimiento-acción (comunicación científica insuficiente)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 promedio positivo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 fuertes |r|&gt;0.6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conocimiento-acción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de palabras dominante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Valoración exitosa si sentimiento promedio &gt;0.2, correlaciones ecológico-económicas significativas (p&lt;0.05), participación razonable (≥30% involucramiento), y nube de palabras revela percepciones realistas.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5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y Análisis de Sentimiento en Noticias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→ BeautifulSoup → TextBlob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que realiza HTTP GET a URLs de noticias, parsea HTML con BeautifulSoup, extrae texto, y calcula polaridad (positiva/negativa) y subjetividad (opinión/factual) con TextBlob.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GET: solicitar página web; status 200 = éxito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BeautifulSoup: parsear HTML, extraer etiquetas &lt;p&gt;, &lt;h1&gt;, &lt;article&gt;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TextBlob: procesar texto en inglés para análisis de sentimiento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Sentimiento: polaridad [-1,1], subjetividad [0,1]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sentimiento_promedio = Σ (polaridad_artículo × peso) / Σ peso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6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accesibles sin autenticación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sin JavaScript dinámico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en inglés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HTML estable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6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response.status_code != 200: print('Error acceso')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= OK; 404 = no encontrado (URL expirada); 403 = acceso bloqueado; 500 = error servidor; silenciar errores y pasar a siguiente URL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len(texto) &lt; 100: skip_article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Texto&lt;100 chars = probablemente mal parseado (cambio de estructura web); registrar y revisar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boxplot([sentimientos_BBC, sentimientos_CNN, sentimientos_RT])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 claramente separadas = sesgos editorialales distintos; BBC ~0, RT &lt;-0.3 = sesgo documentado; solapamiento = narrativas similares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por_tema = {tema: [sent for sent, t in zip(sentimientos, temas) if t==tema]}; print(mean(por_tema))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tema 'economía' sentimiento -0.1 (crítico) vs 'tecnología' +0.2 (optimista) = cobertura temática diferencial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6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 promedio por medio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sentimientos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Subjetividad alta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entre medios de un tema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Análisis exitoso si status_code=200 para ≥80% URLs, texto extraído promedia &gt;500 chars, distribución de sentimientos diferencia medios documentados, y subjetividad coherente con tipo de artículo.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6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6E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Avanzado y Análisis Comparativo de Medios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RSS → Trafilatura → Deep-Translator → TextBlob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avanzado que utiliza feeds RSS de Google News para búsquedas automáticas, resuelve redirecciones, extrae contenido completo con trafilatura, traduce al inglés, y analiza sentimiento/subjetividad comparativamente entre medios.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RSS: búsquedas site-específicas (site:bbc.com) en Google News RSS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Trafilatura: extracción robusta de contenido principal (ignora publicidad, sidebars)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Deep-Translator: traducción automática preserva sentido mejor que Google Translate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comparativo: mapa de calor sentimiento × medio × tema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83464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= matriz[medio × tema] = {sentimiento_promedio, cobertura#articulos}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6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Método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de Google News RSS estables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Trafilatura extrae contenido principal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7830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preserva sentido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4023360" cy="685800"/>
          </a:xfrm>
          <a:prstGeom prst="rect">
            <a:avLst/>
          </a:prstGeom>
          <a:solidFill>
            <a:srgbClr val="FEF9F4"/>
          </a:solidFill>
          <a:ln w="12700">
            <a:solidFill>
              <a:srgbClr val="F0E6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54864" cy="685800"/>
          </a:xfrm>
          <a:prstGeom prst="rect">
            <a:avLst/>
          </a:prstGeom>
          <a:solidFill>
            <a:srgbClr val="C0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representativa de cobertura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0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 Realizar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" cy="320040"/>
          </a:xfrm>
          <a:prstGeom prst="ellipse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n_por_medio = {medio: len([a for a in articulos if a.medio==medio])}; assert all(n≥5 for n in n_por_medio.values())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artículos = muestra marginal; ≥15 = análisis robusto; &lt;5 = insuficiente, búsqueda ampliada necesaria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320040" cy="320040"/>
          </a:xfrm>
          <a:prstGeom prst="ellipse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304288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heatmap(pivot_table(data, values='sentimiento', index='medio', columns='tema'))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cálidos (rojo) = sentimiento positivo por medio-tema; fríos (azul) = negativo; variación horizontal = diferencias entre medios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82696"/>
            <a:ext cx="320040" cy="320040"/>
          </a:xfrm>
          <a:prstGeom prst="ellipse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191256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11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scatter(x=subjetividad, y=sentimiento, hue=medio, s=cobertura#)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esperado cuadrante bajo-izquierdo (bajo subj, ~0 sent); Fox cuadrante alto-derecho (alto subj, sent extremo)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320040" cy="320040"/>
          </a:xfrm>
          <a:prstGeom prst="ellipse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078224"/>
            <a:ext cx="8046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F4E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3982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= sentiment[date&lt;evento]; despues = sentiment[date&gt;evento]; ttest(antes, despues)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81144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p&lt;0.05 = cambio significativo; dirección de cambio revela si evento impactó percepción (positivo o negativo)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6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8F4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256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2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PY-20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Interpretación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observar?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 sentimiento × medio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editorial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Subjetividad alta + sentimiento extremo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narrativa pre/post evento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resultados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análisis concluye satisfactoriamente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04872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Revisar: algún supuesto violado o métrica limítrofe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8803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repetir análisis o elegir método alternativo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Análisis exitoso si ≥5 artículos por medio, mapa de calor diferencia medios documentados, sesgo editorial cuantificable, y cambios narrativos pre/post detectables (p&lt;0.05).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937760"/>
            <a:ext cx="850392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983480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GIACT 2026  |  Módulo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6E20CD-D338-E849-B123-9F516C09128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8e3ca7d-7e48-4621-98a3-fff3aa14d0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7963</Words>
  <Application>Microsoft Macintosh PowerPoint</Application>
  <PresentationFormat>On-screen Show (16:9)</PresentationFormat>
  <Paragraphs>1141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Agustín Gómez Meléndez</cp:lastModifiedBy>
  <cp:revision>2</cp:revision>
  <dcterms:created xsi:type="dcterms:W3CDTF">2026-04-07T23:47:59Z</dcterms:created>
  <dcterms:modified xsi:type="dcterms:W3CDTF">2026-04-08T02:58:00Z</dcterms:modified>
</cp:coreProperties>
</file>